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메이크스팬(초)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AF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1434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FCFS</c:v>
                  </c:pt>
                  <c:pt idx="1">
                    <c:v>SPT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575.9</c:v>
                </c:pt>
                <c:pt idx="1">
                  <c:v>1038.6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생산기술 대시보드 구축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생산기술 직무 지원 포트폴리오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파워트레인 라인 통합 KPI · 디지털트윈 대시보드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수치는 실제 스크립트 실행 결과입니다  ·  https://weqlag7dcapkjqkqjrbgvj.streamlit.app/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00. 개요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"OEE가 몇 %인가"에 답할 수 없었다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5개와 대시보드 2개를 따로 만들었지만, 각기 다른 형식·기준이라 라인의 OEE를 하나의 숫자로 답할 수 없었다.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표준 KPI 계약(OEE=A×P×Q)으로 통합  ② 실측 MTBF/MTTR을 가상라인에 주입해 What-if 질문에 실행 가능한 시뮬레이션으로 답하기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55448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F2F4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665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0 → 13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377440"/>
            <a:ext cx="365760" cy="320040"/>
          </a:xfrm>
          <a:prstGeom prst="rect">
            <a:avLst/>
          </a:prstGeom>
          <a:solidFill>
            <a:srgbClr val="3D5A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3591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소싱·검증 (Azure PdM, APS Scania)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761488"/>
            <a:ext cx="365760" cy="320040"/>
          </a:xfrm>
          <a:prstGeom prst="rect">
            <a:avLst/>
          </a:prstGeom>
          <a:solidFill>
            <a:srgbClr val="3D5A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27432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표준화 (스키마 + 5중 검증)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145536"/>
            <a:ext cx="365760" cy="320040"/>
          </a:xfrm>
          <a:prstGeom prst="rect">
            <a:avLst/>
          </a:prstGeom>
          <a:solidFill>
            <a:srgbClr val="3D5A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31272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SimPy 5공정 디지털트윈 구축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3529584"/>
            <a:ext cx="365760" cy="320040"/>
          </a:xfrm>
          <a:prstGeom prst="rect">
            <a:avLst/>
          </a:prstGeom>
          <a:solidFill>
            <a:srgbClr val="3D5A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5112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몬테카를로·시나리오 그리드 (30×30)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3913632"/>
            <a:ext cx="365760" cy="320040"/>
          </a:xfrm>
          <a:prstGeom prst="rect">
            <a:avLst/>
          </a:prstGeom>
          <a:solidFill>
            <a:srgbClr val="3D5A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89534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비용민감 예지보전 모델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297680"/>
            <a:ext cx="365760" cy="320040"/>
          </a:xfrm>
          <a:prstGeom prst="rect">
            <a:avLst/>
          </a:prstGeom>
          <a:solidFill>
            <a:srgbClr val="3D5A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42793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6페이지 대시보드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4681728"/>
            <a:ext cx="365760" cy="320040"/>
          </a:xfrm>
          <a:prstGeom prst="rect">
            <a:avLst/>
          </a:prstGeom>
          <a:solidFill>
            <a:srgbClr val="3D5A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46634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 실 배포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데이터 소싱과 검증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공개데이터 실측 검증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108960"/>
                <a:gridCol w="3200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PdM (telemetry/failures/machines)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876,100행 / 761건 고장 / 100대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가동률(A) — MTBF/MTTR, 센서 전조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APS Scania Trucks (train/test)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60,000행+16,000행×171열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품질(Q) — 비용민감 고장예측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AI4I 2020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미채택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sim1~5 재활용 포기하며 검토 후 제외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Bosch Production Line (14.3GB)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검토 안 함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소싱 후보에 포함하지 않음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고장 부품 비중(실측): comp2 34.0% · comp1 25.2% · comp4 23.5% · comp3 17.2%   |   APS Scania 클래스 불균형: pos 1.67~2.34%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KPI 표준화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OEE = 가동률 × 성능 × 품질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2A34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가동률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가동시간 / 계획시간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92024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2A34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0574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063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(이론CT × 생산량) / 가동시간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92024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2A34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20574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063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520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양품수 / 총생산수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463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계약: scenario_id · source · process · kpi_name · kpi_value · unit · ci_low/high · run_id · timestamp  —  19개 kpi_name 화이트리스트 + 5중 자동 검증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디지털트윈 시뮬레이션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실측 MTBF/MTTR → SimPy 5공정 가상라인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MTBF(h)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MTTR(h)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고장건수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3,045.16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2,561.57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comp3 (열처리)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2,176.39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comp4 (조립)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2,328.66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00200"/>
            <a:ext cx="4663440" cy="1051560"/>
          </a:xfrm>
          <a:prstGeom prst="roundRect">
            <a:avLst>
              <a:gd name="adj" fmla="val 10435"/>
            </a:avLst>
          </a:prstGeom>
          <a:solidFill>
            <a:srgbClr val="F2F4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949440" y="1709928"/>
            <a:ext cx="466344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99.17%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231136"/>
            <a:ext cx="448056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시나리오 OEE (A=100% · P=99.17% · Q=100%)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949440" y="2788920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2F4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49440" y="2898648"/>
            <a:ext cx="22402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3419856"/>
            <a:ext cx="20574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UPH (병목: 열처리 60초)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372600" y="2788920"/>
            <a:ext cx="2240280" cy="1051560"/>
          </a:xfrm>
          <a:prstGeom prst="roundRect">
            <a:avLst>
              <a:gd name="adj" fmla="val 10435"/>
            </a:avLst>
          </a:prstGeom>
          <a:solidFill>
            <a:srgbClr val="F2F4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72600" y="2898648"/>
            <a:ext cx="22402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98.21%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464040" y="3419856"/>
            <a:ext cx="20574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100대 평균 Availability</a:t>
            </a:r>
            <a:endParaRPr lang="en-US" sz="1100" dirty="0"/>
          </a:p>
        </p:txBody>
      </p:sp>
      <p:pic>
        <p:nvPicPr>
          <p:cNvPr id="14" name="Image 0" descr="C:\Users\ansjt\최중호\integrated_dashboard\figures\fig_oee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3977640"/>
            <a:ext cx="4663440" cy="27889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640" y="63093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그림: OEE 손실 구조 — 100% → 가동률/성능/품질 손실 반영 → 최종 99.2%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디지털트윈 시뮬레이션 — 진짜 발견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버퍼는 왜 효과가 없었나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F2F4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버퍼 0 → 20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0.991667 로 완전히 동일 (변화 0)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8시간 시프트 안에서는 실측 MTBF(수천 시간대)가 매우 커서 고장이 거의 없고, 고장이 없으면 버퍼가 흡수할 변동 자체가 없다. 버퍼는 "변동 흡수" 역할이라 변동이 없으면 크기가 의미 없다는 뜻 — 버그가 아니라 실제 발견.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94960" cy="4206240"/>
          </a:xfrm>
          <a:prstGeom prst="roundRect">
            <a:avLst>
              <a:gd name="adj" fmla="val 3261"/>
            </a:avLst>
          </a:prstGeom>
          <a:solidFill>
            <a:srgbClr val="F2F4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874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주기 800·1600분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100%로 급등 (PM 200분: 87.5% / 400분: 93.1%)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9260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 기간(480분)보다 PM 주기가 길면 그 창 안에서 PM이 한 번도 안 일어나니 당연한 경계 효과 — 30개 시나리오 × 30회 몬테카를로, 총 20.3초.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디지털트윈 시뮬레이션 — 생산계획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"SPT가 항상 낫다"는 통념, 반대로 나왔다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583680" y="173736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 575.9초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D1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  1038.6초 (+80.3%)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SPT를 공정마다 독립 적용하면, 처리시간이 긴 특정 잡이 매 공정에서 계속 뒤로 밀려 대기시간이 누적된다 — 현장의 "장기물 방치" 문제와 같은 메커니즘. SPT는 단일공정 평균흐름시간엔 유리하지만 다단계 플로우샵 메이크스팬은 보장 못 함.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디지털트윈 시뮬레이션 — 비용민감 예지보전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임계값 0.05, 비용 95.4% 절감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6692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280160"/>
                <a:gridCol w="1005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총비용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더미(전부 정상)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187,500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RF (0.50)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48,570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비용최적 RF (0.05)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49040"/>
            <a:ext cx="5669280" cy="1280160"/>
          </a:xfrm>
          <a:prstGeom prst="roundRect">
            <a:avLst>
              <a:gd name="adj" fmla="val 8571"/>
            </a:avLst>
          </a:prstGeom>
          <a:solidFill>
            <a:srgbClr val="F2F4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3858768"/>
            <a:ext cx="5669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178,830 (95.4%)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517136"/>
            <a:ext cx="54864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더미 대비 절감액 — 과검(FP)=10, 미검(FN)=500 비용 설정</a:t>
            </a:r>
            <a:endParaRPr lang="en-US" sz="1100" dirty="0"/>
          </a:p>
        </p:txBody>
      </p:sp>
      <p:pic>
        <p:nvPicPr>
          <p:cNvPr id="8" name="Image 0" descr="C:\Users\ansjt\최중호\integrated_dashboard\figures\fig_cost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00200"/>
            <a:ext cx="5120640" cy="3108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92240" y="48006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34.2%는 과검이 여전히 많다는 뜻 — 미검(고장 놓침) 비용이 훨씬 크다는 전제의 절충 결과.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대시보드 구현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캐시 + 실시간 하이브리드 아키텍처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2A34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47088"/>
            <a:ext cx="32918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2.15ms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70048"/>
            <a:ext cx="31089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조회 (그리드 30개 조합)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2A34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1847088"/>
            <a:ext cx="32918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658ms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670048"/>
            <a:ext cx="31089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계산 (그리드 외 조합)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73736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2A34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1847088"/>
            <a:ext cx="35661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300배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670048"/>
            <a:ext cx="338328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응답속도 차이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2A34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657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36576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2A34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0" y="3657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설비예지보전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36576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2A34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3657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품질SPC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26880" y="36576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2A348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26880" y="36576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생산계획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46177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2A348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617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라인밸런싱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0" y="46177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2A348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657600" y="4617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시뮬레이터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46177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2A34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46177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데이터출처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최종 결과물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결과 수치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2F4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09928"/>
            <a:ext cx="3566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99.17%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5059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OEE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2F4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43400" y="1709928"/>
            <a:ext cx="3566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178,830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45059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절감액 (95.4%)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2F4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38160" y="1709928"/>
            <a:ext cx="3566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300배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45059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캐시 vs 실시간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2F4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10128"/>
            <a:ext cx="3566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+80.3%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5079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SPT가 FCFS보다 나쁨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2004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2F4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43400" y="3310128"/>
            <a:ext cx="3566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10.27s→2.19s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405079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로딩 최적화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20040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2F4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38160" y="3310128"/>
            <a:ext cx="3566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131MB→116KB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05079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데이터 감량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URL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03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https://weqlag7dcapkjqkqjrbgvj.streamlit.app/</a:t>
            </a:r>
            <a:endParaRPr lang="en-US" sz="1600" dirty="0"/>
          </a:p>
        </p:txBody>
      </p:sp>
      <p:pic>
        <p:nvPicPr>
          <p:cNvPr id="24" name="Image 0" descr="C:\Users\ansjt\최중호\integrated_dashboard\figures\fig_kpi_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800600"/>
            <a:ext cx="310896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인사이트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깨달은 점 · 확장 구상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깨달은 점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계약을 먼저 정의하면 이후 모든 분석이 같은 언어로 말한다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몬테카를로 반복 없이 시뮬레이션 1회만 믿으면 안 된다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Kaleido가 받침 있는 한글을 회전축 제목으로 그리면 깨지는 버그 발견·해결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로컬에서 잘 되던 게 배포하면 깨질 수 있다 (숨은 원본 데이터 의존성)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확장 구상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201168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MES/PLM 연계 — KPI 계약의 source 컬럼으로 확장 가능하게 이미 설계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IIoT 스트리밍 — 배치 24h 윈도우를 실시간 알람 구조로 발전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버퍼 효과 재현 — 시뮬레이션 기간을 수백 일로 늘리는 후속 작업 필요(미착수)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전체 공정 요약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→ 07 한 장 압축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3D5A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733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소싱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67335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PdM 876,100행·761건 고장 + APS Scania pos 1.67~2.34% 채택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2432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3D5A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624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표준화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6060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OEE=A×P×Q, 19개 kpi_name 화이트리스트, 5중 검증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57016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3D5A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557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5387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디지털트윈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53872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 OEE 99.17% · 버퍼 무효과·SPT 역전 발견 · 비용 95.4% 절감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489704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3D5A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89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447141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447141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6페이지, 캐시+실시간 300배, 로딩 10.27s→2.19s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42239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3D5A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422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4041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540410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131MB→116KB, Git LFS 불필요, 실배포 버그 3건 발견·수정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2026-09-10T05:51:07Z</dcterms:created>
  <dcterms:modified xsi:type="dcterms:W3CDTF">2026-09-10T05:51:07Z</dcterms:modified>
</cp:coreProperties>
</file>